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A2419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3108960" cy="3108960"/>
          </a:xfrm>
          <a:prstGeom prst="ellipse">
            <a:avLst/>
          </a:prstGeom>
          <a:solidFill>
            <a:srgbClr val="2A241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7132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perks employees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want.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benefits marketplace — built for Albania, ready for the world.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9834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F5BE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8348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41448" y="498348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FF6A1F"/>
          </a:solidFill>
          <a:ln/>
        </p:spPr>
      </p:sp>
      <p:sp>
        <p:nvSpPr>
          <p:cNvPr id="12" name="Text 10"/>
          <p:cNvSpPr/>
          <p:nvPr/>
        </p:nvSpPr>
        <p:spPr>
          <a:xfrm>
            <a:off x="2441448" y="498348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22192" y="4983480"/>
            <a:ext cx="1824228" cy="457200"/>
          </a:xfrm>
          <a:prstGeom prst="roundRect">
            <a:avLst>
              <a:gd name="adj" fmla="val 50000"/>
            </a:avLst>
          </a:prstGeom>
          <a:solidFill>
            <a:srgbClr val="B23C0A"/>
          </a:solidFill>
          <a:ln/>
        </p:spPr>
      </p:sp>
      <p:sp>
        <p:nvSpPr>
          <p:cNvPr id="14" name="Text 12"/>
          <p:cNvSpPr/>
          <p:nvPr/>
        </p:nvSpPr>
        <p:spPr>
          <a:xfrm>
            <a:off x="3822192" y="4983480"/>
            <a:ext cx="18242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· SQLite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today are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forgettable, taxed, unused.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807208"/>
            <a:ext cx="640080" cy="640080"/>
          </a:xfrm>
          <a:prstGeom prst="ellipse">
            <a:avLst/>
          </a:prstGeom>
          <a:solidFill>
            <a:srgbClr val="B23C0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807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75234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Eaten by tax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317296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bonuses lose ~41% to employer + employee tax before they reach the team.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51460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2807208"/>
            <a:ext cx="640080" cy="640080"/>
          </a:xfrm>
          <a:prstGeom prst="ellipse">
            <a:avLst/>
          </a:prstGeom>
          <a:solidFill>
            <a:srgbClr val="15347E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807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275234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One-size-fits-none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06640" y="317296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gym voucher nobody uses. Perks rarely match what people actually want.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498848"/>
            <a:ext cx="640080" cy="64008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98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4439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to HR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86460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of adoption, spend or ROI — benefits become a cost, not an edge.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20624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4498848"/>
            <a:ext cx="640080" cy="64008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4498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44439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Painful to run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06640" y="486460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Reimbursements, receipts and approvals scattered across email and chat.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PERX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marketplace where employees 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perks they want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employers 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F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in one click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providers 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paid directly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A241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200400"/>
            <a:ext cx="109728" cy="2651760"/>
          </a:xfrm>
          <a:prstGeom prst="rect">
            <a:avLst/>
          </a:prstGeom>
          <a:solidFill>
            <a:srgbClr val="FF6A1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29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VIEWS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846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· employer · provider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A2419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3200400"/>
            <a:ext cx="109728" cy="2651760"/>
          </a:xfrm>
          <a:prstGeom prst="rect">
            <a:avLst/>
          </a:prstGeom>
          <a:solidFill>
            <a:srgbClr val="1F5BE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429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747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4846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 live offers across 5 categories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A2419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3200400"/>
            <a:ext cx="109728" cy="2651760"/>
          </a:xfrm>
          <a:prstGeom prst="rect">
            <a:avLst/>
          </a:prstGeom>
          <a:solidFill>
            <a:srgbClr val="B23C0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429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23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179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4846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points + gamification layer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32004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A2419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3200400"/>
            <a:ext cx="109728" cy="2651760"/>
          </a:xfrm>
          <a:prstGeom prst="rect">
            <a:avLst/>
          </a:prstGeom>
          <a:solidFill>
            <a:srgbClr val="15347E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0" y="3429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34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896112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AVOIDED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4846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vs. taxed salary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ACTORS, ONE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data, three points of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6A1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3429000" cy="594360"/>
          </a:xfrm>
          <a:prstGeom prst="rect">
            <a:avLst/>
          </a:prstGeom>
          <a:solidFill>
            <a:srgbClr val="FF6A1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1A161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Kedi, Priya, Tom…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32004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build perk combos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planner, drops, mystery box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points, badges &amp; play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QR redemption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82880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F5BE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2377440"/>
            <a:ext cx="3429000" cy="594360"/>
          </a:xfrm>
          <a:prstGeom prst="rect">
            <a:avLst/>
          </a:prstGeom>
          <a:solidFill>
            <a:srgbClr val="1F5B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148840"/>
            <a:ext cx="566928" cy="566928"/>
          </a:xfrm>
          <a:prstGeom prst="ellipse">
            <a:avLst/>
          </a:prstGeom>
          <a:solidFill>
            <a:srgbClr val="1A1610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 / HR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30352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Elira Hysa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36008" y="32004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approve &amp; pay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tax-savings counter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spend analytics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payment feed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82880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B23C0A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0" y="2377440"/>
            <a:ext cx="3429000" cy="594360"/>
          </a:xfrm>
          <a:prstGeom prst="rect">
            <a:avLst/>
          </a:prstGeom>
          <a:solidFill>
            <a:srgbClr val="B23C0A"/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2148840"/>
            <a:ext cx="566928" cy="566928"/>
          </a:xfrm>
          <a:prstGeom prst="ellipse">
            <a:avLst/>
          </a:prstGeom>
          <a:solidFill>
            <a:srgbClr val="1A1610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0684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00684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Driton · Studio Vertigo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39328" y="32004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live offers &amp; bookings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simulated payments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reviews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customer QR to redeem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never passes through the employee's hands — it routes straight to each provider on approval.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5EFE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68880"/>
            <a:ext cx="2057400" cy="109728"/>
          </a:xfrm>
          <a:prstGeom prst="rect">
            <a:avLst/>
          </a:prstGeom>
          <a:solidFill>
            <a:srgbClr val="FF6A1F"/>
          </a:solidFill>
          <a:ln/>
        </p:spPr>
      </p:sp>
      <p:sp>
        <p:nvSpPr>
          <p:cNvPr id="7" name="Shape 5"/>
          <p:cNvSpPr/>
          <p:nvPr/>
        </p:nvSpPr>
        <p:spPr>
          <a:xfrm>
            <a:off x="1257300" y="2880360"/>
            <a:ext cx="822960" cy="82296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4480560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offers, drops &amp; the AI bundle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9192" y="31089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62072" y="246888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5EFE3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2072" y="2468880"/>
            <a:ext cx="2057400" cy="109728"/>
          </a:xfrm>
          <a:prstGeom prst="rect">
            <a:avLst/>
          </a:prstGeom>
          <a:solidFill>
            <a:srgbClr val="1F5BE0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9292" y="2880360"/>
            <a:ext cx="822960" cy="82296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9292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62072" y="3794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F5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62072" y="40416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combo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26664" y="4480560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several providers into one package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01184" y="31089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84064" y="246888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5EFE3"/>
          </a:solidFill>
          <a:ln/>
        </p:spPr>
      </p:sp>
      <p:sp>
        <p:nvSpPr>
          <p:cNvPr id="22" name="Shape 20"/>
          <p:cNvSpPr/>
          <p:nvPr/>
        </p:nvSpPr>
        <p:spPr>
          <a:xfrm>
            <a:off x="5084064" y="2468880"/>
            <a:ext cx="2057400" cy="109728"/>
          </a:xfrm>
          <a:prstGeom prst="rect">
            <a:avLst/>
          </a:prstGeom>
          <a:solidFill>
            <a:srgbClr val="B23C0A"/>
          </a:solidFill>
          <a:ln/>
        </p:spPr>
      </p:sp>
      <p:sp>
        <p:nvSpPr>
          <p:cNvPr id="23" name="Shape 21"/>
          <p:cNvSpPr/>
          <p:nvPr/>
        </p:nvSpPr>
        <p:spPr>
          <a:xfrm>
            <a:off x="5701284" y="2880360"/>
            <a:ext cx="822960" cy="822960"/>
          </a:xfrm>
          <a:prstGeom prst="ellipse">
            <a:avLst/>
          </a:prstGeom>
          <a:solidFill>
            <a:srgbClr val="B23C0A"/>
          </a:solidFill>
          <a:ln/>
        </p:spPr>
      </p:sp>
      <p:sp>
        <p:nvSpPr>
          <p:cNvPr id="24" name="Text 22"/>
          <p:cNvSpPr/>
          <p:nvPr/>
        </p:nvSpPr>
        <p:spPr>
          <a:xfrm>
            <a:off x="5701284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084064" y="3794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2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416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48656" y="4480560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selection to the employer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23176" y="31089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06056" y="246888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5EFE3"/>
          </a:solidFill>
          <a:ln/>
        </p:spPr>
      </p:sp>
      <p:sp>
        <p:nvSpPr>
          <p:cNvPr id="30" name="Shape 28"/>
          <p:cNvSpPr/>
          <p:nvPr/>
        </p:nvSpPr>
        <p:spPr>
          <a:xfrm>
            <a:off x="7306056" y="2468880"/>
            <a:ext cx="2057400" cy="109728"/>
          </a:xfrm>
          <a:prstGeom prst="rect">
            <a:avLst/>
          </a:prstGeom>
          <a:solidFill>
            <a:srgbClr val="15347E"/>
          </a:solidFill>
          <a:ln/>
        </p:spPr>
      </p:sp>
      <p:sp>
        <p:nvSpPr>
          <p:cNvPr id="31" name="Shape 29"/>
          <p:cNvSpPr/>
          <p:nvPr/>
        </p:nvSpPr>
        <p:spPr>
          <a:xfrm>
            <a:off x="7923276" y="2880360"/>
            <a:ext cx="822960" cy="822960"/>
          </a:xfrm>
          <a:prstGeom prst="ellipse">
            <a:avLst/>
          </a:prstGeom>
          <a:solidFill>
            <a:srgbClr val="15347E"/>
          </a:solidFill>
          <a:ln/>
        </p:spPr>
      </p:sp>
      <p:sp>
        <p:nvSpPr>
          <p:cNvPr id="32" name="Text 30"/>
          <p:cNvSpPr/>
          <p:nvPr/>
        </p:nvSpPr>
        <p:spPr>
          <a:xfrm>
            <a:off x="7923276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306056" y="3794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53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06056" y="40416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&amp; pay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70648" y="4480560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 simulated payment per provider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345168" y="31089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3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9528048" y="246888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5EFE3"/>
          </a:solidFill>
          <a:ln/>
        </p:spPr>
      </p:sp>
      <p:sp>
        <p:nvSpPr>
          <p:cNvPr id="38" name="Shape 36"/>
          <p:cNvSpPr/>
          <p:nvPr/>
        </p:nvSpPr>
        <p:spPr>
          <a:xfrm>
            <a:off x="9528048" y="2468880"/>
            <a:ext cx="2057400" cy="109728"/>
          </a:xfrm>
          <a:prstGeom prst="rect">
            <a:avLst/>
          </a:prstGeom>
          <a:solidFill>
            <a:srgbClr val="FF6A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45268" y="2880360"/>
            <a:ext cx="822960" cy="82296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40" name="Text 38"/>
          <p:cNvSpPr/>
          <p:nvPr/>
        </p:nvSpPr>
        <p:spPr>
          <a:xfrm>
            <a:off x="10145268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9528048" y="3794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528048" y="404164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Redeem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692640" y="4480560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Orders → show QR at the venue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Planner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feeling and a budget. Perx turns it into a complementary, cross-provider combo — with a human reason for every pick. Deterministic and fully offline.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640080" cy="64008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32735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lexicon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6393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free text → tags (calm, social, active…)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640080" cy="64008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233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scoring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45994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offers by mood, rating &amp; distance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5193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Budget-aware bundler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55595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basket without breaking the cap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40880" y="1417320"/>
            <a:ext cx="4526280" cy="4754880"/>
          </a:xfrm>
          <a:prstGeom prst="roundRect">
            <a:avLst>
              <a:gd name="adj" fmla="val 2424"/>
            </a:avLst>
          </a:prstGeom>
          <a:solidFill>
            <a:srgbClr val="FBF6EC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691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"stressed before a launch — something calming this weekend under 60 PX"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606040"/>
            <a:ext cx="3886200" cy="0"/>
          </a:xfrm>
          <a:prstGeom prst="line">
            <a:avLst/>
          </a:prstGeom>
          <a:noFill/>
          <a:ln w="12700">
            <a:solidFill>
              <a:srgbClr val="E0D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788920"/>
            <a:ext cx="502920" cy="50292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00" y="27706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bath · 2hr pass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01000" y="30723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 Spa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24160" y="283464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PX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60920" y="3538728"/>
            <a:ext cx="502920" cy="50292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0100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Restorative yoga · Sat 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01000" y="3822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Lila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424160" y="358444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PX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60920" y="4288536"/>
            <a:ext cx="502920" cy="502920"/>
          </a:xfrm>
          <a:prstGeom prst="ellipse">
            <a:avLst/>
          </a:prstGeom>
          <a:solidFill>
            <a:srgbClr val="B23C0A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01000" y="42702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 credit · 1 mo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01000" y="4572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BookClub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424160" y="433425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PX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60920" y="5166360"/>
            <a:ext cx="3886200" cy="777240"/>
          </a:xfrm>
          <a:prstGeom prst="roundRect">
            <a:avLst>
              <a:gd name="adj" fmla="val 11765"/>
            </a:avLst>
          </a:prstGeom>
          <a:solidFill>
            <a:srgbClr val="1A1610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5285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55 PX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0" y="52852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PX saved vs. salary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&amp; gamification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benefits a habit, not a chore.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50008"/>
            <a:ext cx="658368" cy="658368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0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Friday drops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7706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countdowns &amp; scarcity on limited deals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350008"/>
            <a:ext cx="658368" cy="658368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350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Mystery box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27706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employer-funded surprise within budget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350008"/>
            <a:ext cx="658368" cy="658368"/>
          </a:xfrm>
          <a:prstGeom prst="ellipse">
            <a:avLst/>
          </a:prstGeom>
          <a:solidFill>
            <a:srgbClr val="B23C0A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350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2331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spin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7706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the wheel once a week for bonus points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315968"/>
            <a:ext cx="658368" cy="658368"/>
          </a:xfrm>
          <a:prstGeom prst="ellipse">
            <a:avLst/>
          </a:prstGeom>
          <a:solidFill>
            <a:srgbClr val="15347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15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badges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473659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Curator, Drop-hunter, Big-spender &amp; more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4023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315968"/>
            <a:ext cx="658368" cy="658368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315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championship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473659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step races with a weekly winner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315968"/>
            <a:ext cx="658368" cy="658368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315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4400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 leaderboards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0" y="473659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Team-vs-team points &amp; a live activity feed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REDEMPTION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Shared, social, and redeemable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2A241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layer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72768" y="2606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emoji reactions on every offer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3282696"/>
            <a:ext cx="457200" cy="45720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72768" y="32826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“Trending in your office” social proof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3959352"/>
            <a:ext cx="457200" cy="45720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72768" y="39593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a perk to a teammate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4636008"/>
            <a:ext cx="457200" cy="45720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72768" y="46360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pools — chip in toward a shared goal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60120" y="5312664"/>
            <a:ext cx="457200" cy="457200"/>
          </a:xfrm>
          <a:prstGeom prst="ellipse">
            <a:avLst/>
          </a:prstGeom>
          <a:solidFill>
            <a:srgbClr val="1F5BE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12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72768" y="53126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a local spot, earn points when it joins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1783080"/>
            <a:ext cx="5303520" cy="4251960"/>
          </a:xfrm>
          <a:prstGeom prst="roundRect">
            <a:avLst>
              <a:gd name="adj" fmla="val 2581"/>
            </a:avLst>
          </a:prstGeom>
          <a:solidFill>
            <a:srgbClr val="FB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201168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FF6A1F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011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19933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redemption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37960" y="2697480"/>
            <a:ext cx="1554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1A16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69748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6400" dirty="0"/>
          </a:p>
        </p:txBody>
      </p:sp>
      <p:sp>
        <p:nvSpPr>
          <p:cNvPr id="27" name="Text 25"/>
          <p:cNvSpPr/>
          <p:nvPr/>
        </p:nvSpPr>
        <p:spPr>
          <a:xfrm>
            <a:off x="8321040" y="2697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23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taps Show QR on a paid order.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53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scans it with the camera to confirm the booking — one-time, can't be reused.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4526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native in-browser barcode scanner — no extra app to install.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EMPLOYER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become an edge, not a cost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1A161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6A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SAVED THIS MONTH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€279</a:t>
            </a:r>
            <a:pPr indent="0" marL="0">
              <a:buNone/>
            </a:pPr>
            <a:r>
              <a:rPr lang="en-US" sz="26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saved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€680 of benefits approved this month, vs. paying the same value as taxed salary — 41% burden avoided.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ticks live as perks are approved.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5EFE3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828800"/>
            <a:ext cx="91440" cy="713232"/>
          </a:xfrm>
          <a:prstGeom prst="rect">
            <a:avLst/>
          </a:prstGeom>
          <a:solidFill>
            <a:srgbClr val="FF6A1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8928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this week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55080" y="2212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employees engaging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2679192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5EFE3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2679192"/>
            <a:ext cx="91440" cy="713232"/>
          </a:xfrm>
          <a:prstGeom prst="rect">
            <a:avLst/>
          </a:prstGeom>
          <a:solidFill>
            <a:srgbClr val="1F5BE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743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used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508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vs. total allocation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3529584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5EFE3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0760" y="3529584"/>
            <a:ext cx="91440" cy="713232"/>
          </a:xfrm>
          <a:prstGeom prst="rect">
            <a:avLst/>
          </a:prstGeom>
          <a:solidFill>
            <a:srgbClr val="B23C0A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5935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adoption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55080" y="3913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with a nudge suggestion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4379976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5EFE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4379976"/>
            <a:ext cx="91440" cy="713232"/>
          </a:xfrm>
          <a:prstGeom prst="rect">
            <a:avLst/>
          </a:prstGeom>
          <a:solidFill>
            <a:srgbClr val="15347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4439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by category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5080" y="4764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goes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523036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F5EFE3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0760" y="5230368"/>
            <a:ext cx="91440" cy="713232"/>
          </a:xfrm>
          <a:prstGeom prst="rect">
            <a:avLst/>
          </a:prstGeom>
          <a:solidFill>
            <a:srgbClr val="FF6A1F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52943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rating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355080" y="56144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average across reviews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2A241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38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Server 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2A2419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938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UI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2A241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38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Prisma 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data layer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2A2419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385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4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52560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demo database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F6A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3840480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picker, role-aware shell, page routes &amp; one server-actions file (book, approve+pay, spin, gift, redeem…)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F6A1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4617720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planner, budget, points, insights, catalog, session, money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9496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F6A1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949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5394960"/>
            <a:ext cx="9326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16-model schema + a rich seeded demo dataset (company, people, providers, offers, drops, badges)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 persona switch (no passwords) so one dataset is explorable from all three views. Payments are simulated — no real rail.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2A241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463040"/>
            <a:ext cx="3657600" cy="3657600"/>
          </a:xfrm>
          <a:prstGeom prst="ellipse">
            <a:avLst/>
          </a:prstGeom>
          <a:solidFill>
            <a:srgbClr val="2A2419"/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371600"/>
            <a:ext cx="868680" cy="868680"/>
          </a:xfrm>
          <a:prstGeom prst="ellipse">
            <a:avLst/>
          </a:prstGeom>
          <a:solidFill>
            <a:srgbClr val="FF6A1F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371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Albania.</a:t>
            </a:r>
            <a:endParaRPr lang="en-US" sz="4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the world.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645920" y="443484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perks employees actually want — and the talent edge companies need — in one marketplace.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544068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36873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2026-06-21T09:35:08Z</dcterms:created>
  <dcterms:modified xsi:type="dcterms:W3CDTF">2026-06-21T09:35:08Z</dcterms:modified>
</cp:coreProperties>
</file>